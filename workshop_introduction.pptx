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/>
    <p:restoredTop sz="91759"/>
  </p:normalViewPr>
  <p:slideViewPr>
    <p:cSldViewPr snapToGrid="0">
      <p:cViewPr varScale="1">
        <p:scale>
          <a:sx n="99" d="100"/>
          <a:sy n="99" d="100"/>
        </p:scale>
        <p:origin x="1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2F68-4D16-D2C3-A0C1-A78FE3C53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5B46-33B6-8F1E-96D6-E03BEBB2C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47954-5C9F-9B2A-786E-687EBDBC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CDEDA-BD17-5E54-6CA7-0321DEAB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A3F89-7675-056E-3624-77B5A042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1079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7025-E19B-755B-57A9-24853E735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9340E-7459-3087-3535-0FB58DDB2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9499E-DC1D-67BB-919A-9EFF9966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BA397-325F-3D3E-D25F-768350CA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1BA59-391B-0DE9-5211-2A3769C0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83328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3B914-D38A-D2C6-9469-7AD28B2D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F8BB8-8C80-78D8-45EB-C9759EE41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63677-C66F-AF9E-E623-5B9517DE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99E09-B8E6-DC95-013A-E51D5A9F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86B10-B7A9-8682-925E-AA132B64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54068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8A6B-1DAF-9364-EBC7-8E68294B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87C32-1AD9-448C-329B-507F35EB5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BC5EE-96C9-B5A9-A78E-AEE3535A1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432A7-DC7C-8F06-79DE-747252476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64F9C-00DF-C065-51EB-CABE8382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447A4-6074-8010-7735-F3CDA1A6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025930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C8892-423C-BB4E-56F7-EBFB70DE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B1C2-7FA3-CCA2-BB65-D95F36659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1A8F5-279E-325E-02BF-3F2C77DD0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E39DA-0596-523A-DC13-79E43E64B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190E8-BAA7-C5F4-4D7D-E82E8027D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F630F4-8AB9-44D1-7295-8C787196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ADF3C0-B264-54B9-E0D1-EE6BCBA6F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80D1BE-7978-D406-CB59-40AD915E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0173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04E-3D30-DC2D-E726-B63E89427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775CF0-7229-970E-7876-BAC21AA39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C9B6F-56C7-26FC-E620-47D0D175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DB748-9D40-6CE8-1E99-00756CC5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10805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01F02-AC14-59F5-9846-D9A319AA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A6105-E1C9-5F86-9743-AC94C7DB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6866F-35FE-212E-6903-7E307E71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65813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A097-F49F-7F3C-8831-59B7AF73B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62EFB-1A7A-757A-B61A-95647E259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09184-8DF6-2800-6632-18049B2D9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D505A-8CAA-C2A5-945C-9E0D5C45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C233B-CD7F-E31E-DF8F-E54436C8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1E4A9-A40F-915B-8033-BA3863AA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2004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AF77-196C-C295-C69B-199861A6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898A90-0BFB-0EDF-37CC-0BFB9512B0C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59DFE-F05D-6D19-5F88-0C3914169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D1A84-7F2F-C75B-F5A0-AFBE9CFB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7E6A-0E2B-A067-F306-0F09BD1D1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132C5-A2F2-6771-D135-9B6EBEC3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91045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DD058-3B59-BAD3-A3C7-2D74F2BC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01503-D175-AEE2-C24D-D39C65C59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C743-5230-1254-6683-956923E9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91F65-8FCC-3641-7C57-A2944C33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91909-7D89-9969-9CCC-37D712F7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64533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AA7E95-F9C9-2299-BEF1-E52C1C042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F0BFC-05D6-A985-D50E-92C5EF2AB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77CEF-87AF-13A4-46F0-7CCCED2A8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47FEF-35E8-9136-15D3-FF3B50A4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1E07B-1CF5-9171-FDAA-99872006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63956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D9A59-E18F-1374-2850-C4DD4C76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B2343-64E3-F202-67F3-25D510573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AB091-06F7-B660-C6A3-DD6311FA4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FD6C2-84F2-474B-9160-8E6544D8E106}" type="datetimeFigureOut">
              <a:rPr lang="en-ES" smtClean="0"/>
              <a:t>4/10/26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E9F19-9800-03A1-1ABD-DFBAFFA62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58385-6A8D-99DE-AC4A-B3E9A3220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D18E3-4030-A64F-BE2C-A1067C024D4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66572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carlo.manzo@uvic.cat" TargetMode="External"/><Relationship Id="rId7" Type="http://schemas.openxmlformats.org/officeDocument/2006/relationships/image" Target="../media/image4.png"/><Relationship Id="rId2" Type="http://schemas.openxmlformats.org/officeDocument/2006/relationships/hyperlink" Target="mailto:guillem.guigo@uvic.cat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jpg"/><Relationship Id="rId10" Type="http://schemas.openxmlformats.org/officeDocument/2006/relationships/image" Target="../media/image12.jp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2738-CC31-2F0B-5DAA-9016637A8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5147"/>
            <a:ext cx="9144000" cy="2387600"/>
          </a:xfrm>
        </p:spPr>
        <p:txBody>
          <a:bodyPr>
            <a:normAutofit/>
          </a:bodyPr>
          <a:lstStyle/>
          <a:p>
            <a:r>
              <a:rPr lang="en-ES" sz="4800" b="1" dirty="0"/>
              <a:t>A Hands-on Introduction to BioImage Simulation with DeepTrack2</a:t>
            </a:r>
            <a:endParaRPr lang="en-E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3731D-2C97-FCDA-0470-0AAB359FE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4759" y="3429000"/>
            <a:ext cx="9144000" cy="1767625"/>
          </a:xfrm>
        </p:spPr>
        <p:txBody>
          <a:bodyPr>
            <a:normAutofit/>
          </a:bodyPr>
          <a:lstStyle/>
          <a:p>
            <a:r>
              <a:rPr lang="en-ES" dirty="0"/>
              <a:t>Guillem Guigó </a:t>
            </a:r>
            <a:r>
              <a:rPr lang="en-GB" dirty="0"/>
              <a:t>i</a:t>
            </a:r>
            <a:r>
              <a:rPr lang="en-ES" dirty="0"/>
              <a:t> Corominas</a:t>
            </a:r>
          </a:p>
          <a:p>
            <a:r>
              <a:rPr lang="en-ES" dirty="0">
                <a:hlinkClick r:id="rId2"/>
              </a:rPr>
              <a:t>guillem.guigo@uvic.cat</a:t>
            </a:r>
            <a:endParaRPr lang="en-ES" dirty="0"/>
          </a:p>
          <a:p>
            <a:r>
              <a:rPr lang="en-ES" dirty="0"/>
              <a:t>Carlo Manzo</a:t>
            </a:r>
            <a:br>
              <a:rPr lang="en-ES" dirty="0"/>
            </a:br>
            <a:r>
              <a:rPr lang="en-ES" dirty="0">
                <a:hlinkClick r:id="rId3"/>
              </a:rPr>
              <a:t>carlo.manzo@uvic.cat</a:t>
            </a:r>
            <a:endParaRPr lang="en-ES" dirty="0"/>
          </a:p>
        </p:txBody>
      </p:sp>
      <p:pic>
        <p:nvPicPr>
          <p:cNvPr id="4" name="Picture 3" descr="Multimedia assets | UVic">
            <a:extLst>
              <a:ext uri="{FF2B5EF4-FFF2-40B4-BE49-F238E27FC236}">
                <a16:creationId xmlns:a16="http://schemas.microsoft.com/office/drawing/2014/main" id="{C7C5CD2F-5329-C7C0-E2B0-F01B1100B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654" y="5461735"/>
            <a:ext cx="2621164" cy="114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24BB5C-6D46-BC71-AE07-B073CB9DE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5461736"/>
            <a:ext cx="2794000" cy="1143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39D341-7C62-86AF-A69D-A587242D9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706" y="253265"/>
            <a:ext cx="1639035" cy="16390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93E437-4175-F718-D175-AE576B7776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92300" cy="1892300"/>
          </a:xfrm>
          <a:prstGeom prst="rect">
            <a:avLst/>
          </a:prstGeom>
        </p:spPr>
      </p:pic>
      <p:pic>
        <p:nvPicPr>
          <p:cNvPr id="11" name="Picture 10" descr="the QuBI lab">
            <a:extLst>
              <a:ext uri="{FF2B5EF4-FFF2-40B4-BE49-F238E27FC236}">
                <a16:creationId xmlns:a16="http://schemas.microsoft.com/office/drawing/2014/main" id="{3BA8E395-EBB8-8CEB-090C-46AC1BB7E9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3705" y="5461735"/>
            <a:ext cx="4546108" cy="1143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91DDD4-9BE0-0F31-32C3-4A0075F2E3C5}"/>
              </a:ext>
            </a:extLst>
          </p:cNvPr>
          <p:cNvSpPr txBox="1"/>
          <p:nvPr/>
        </p:nvSpPr>
        <p:spPr>
          <a:xfrm>
            <a:off x="10557041" y="1937358"/>
            <a:ext cx="1090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dirty="0"/>
              <a:t>AIM-Net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213598-1FBC-2925-9A08-284335C482EE}"/>
              </a:ext>
            </a:extLst>
          </p:cNvPr>
          <p:cNvSpPr txBox="1"/>
          <p:nvPr/>
        </p:nvSpPr>
        <p:spPr>
          <a:xfrm>
            <a:off x="270259" y="1937358"/>
            <a:ext cx="1483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dirty="0"/>
              <a:t>DeepTrack2</a:t>
            </a:r>
          </a:p>
        </p:txBody>
      </p:sp>
    </p:spTree>
    <p:extLst>
      <p:ext uri="{BB962C8B-B14F-4D97-AF65-F5344CB8AC3E}">
        <p14:creationId xmlns:p14="http://schemas.microsoft.com/office/powerpoint/2010/main" val="113069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D40433-C311-A937-3B5A-A21063252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917439" y="4231739"/>
            <a:ext cx="1944979" cy="1944979"/>
          </a:xfrm>
          <a:prstGeom prst="rect">
            <a:avLst/>
          </a:prstGeom>
        </p:spPr>
      </p:pic>
      <p:pic>
        <p:nvPicPr>
          <p:cNvPr id="4" name="Picture 3" descr="Tapping into light's hidden information to push fundamental diffraction  limit – Physics World">
            <a:extLst>
              <a:ext uri="{FF2B5EF4-FFF2-40B4-BE49-F238E27FC236}">
                <a16:creationId xmlns:a16="http://schemas.microsoft.com/office/drawing/2014/main" id="{DE6F45C3-FBA7-485B-1D03-3868E2F91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004" y="1093849"/>
            <a:ext cx="1802855" cy="893701"/>
          </a:xfrm>
          <a:prstGeom prst="rect">
            <a:avLst/>
          </a:prstGeom>
        </p:spPr>
      </p:pic>
      <p:pic>
        <p:nvPicPr>
          <p:cNvPr id="5" name="Picture 4" descr="PREVIEW_coherent-scatter.mp4">
            <a:extLst>
              <a:ext uri="{FF2B5EF4-FFF2-40B4-BE49-F238E27FC236}">
                <a16:creationId xmlns:a16="http://schemas.microsoft.com/office/drawing/2014/main" id="{AF72115F-4E88-D0B8-79F8-FEAAE70299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383" y="3002899"/>
            <a:ext cx="2064476" cy="1161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12C576-7E16-3490-8C72-3D556FB76E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831" y="508462"/>
            <a:ext cx="2064476" cy="2064476"/>
          </a:xfrm>
          <a:prstGeom prst="rect">
            <a:avLst/>
          </a:prstGeom>
        </p:spPr>
      </p:pic>
      <p:pic>
        <p:nvPicPr>
          <p:cNvPr id="10" name="Picture 9" descr="Refraction">
            <a:extLst>
              <a:ext uri="{FF2B5EF4-FFF2-40B4-BE49-F238E27FC236}">
                <a16:creationId xmlns:a16="http://schemas.microsoft.com/office/drawing/2014/main" id="{1D2DC6F6-4A01-7D91-3192-9CC4EEE3B9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3617" y="2899842"/>
            <a:ext cx="1047553" cy="1367381"/>
          </a:xfrm>
          <a:prstGeom prst="rect">
            <a:avLst/>
          </a:prstGeom>
        </p:spPr>
      </p:pic>
      <p:pic>
        <p:nvPicPr>
          <p:cNvPr id="11" name="Screen Recording 2026-10-05 at 12.39.59.mov">
            <a:hlinkClick r:id="" action="ppaction://media"/>
            <a:extLst>
              <a:ext uri="{FF2B5EF4-FFF2-40B4-BE49-F238E27FC236}">
                <a16:creationId xmlns:a16="http://schemas.microsoft.com/office/drawing/2014/main" id="{B37BAEA3-D844-ED96-E7C0-CED67E26E3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0249" y="4231740"/>
            <a:ext cx="1944978" cy="1944978"/>
          </a:xfrm>
          <a:prstGeom prst="rect">
            <a:avLst/>
          </a:prstGeom>
        </p:spPr>
      </p:pic>
      <p:pic>
        <p:nvPicPr>
          <p:cNvPr id="12" name="Picture 11" descr="of a vintage microscope drawing for science and education 68524682 Vector  Art at Vecteezy">
            <a:extLst>
              <a:ext uri="{FF2B5EF4-FFF2-40B4-BE49-F238E27FC236}">
                <a16:creationId xmlns:a16="http://schemas.microsoft.com/office/drawing/2014/main" id="{2E7C345A-E64F-ECCD-00F3-13E8628607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776" y="413719"/>
            <a:ext cx="1485900" cy="1485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63B1C0-473A-92FE-205C-BD15AE2F97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5683" y="508462"/>
            <a:ext cx="1734164" cy="129641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925E71A-D855-F46F-C0FA-A65810B9EF71}"/>
              </a:ext>
            </a:extLst>
          </p:cNvPr>
          <p:cNvGrpSpPr/>
          <p:nvPr/>
        </p:nvGrpSpPr>
        <p:grpSpPr>
          <a:xfrm>
            <a:off x="434090" y="2219991"/>
            <a:ext cx="4265757" cy="1296415"/>
            <a:chOff x="434090" y="2219991"/>
            <a:chExt cx="4265757" cy="1296415"/>
          </a:xfrm>
        </p:grpSpPr>
        <p:pic>
          <p:nvPicPr>
            <p:cNvPr id="13" name="Picture 12" descr="Minimalist One-line Drawing Woman Writing Notebook Stock Vector (Royalty  Free) 2593973211 | Shutterstock">
              <a:extLst>
                <a:ext uri="{FF2B5EF4-FFF2-40B4-BE49-F238E27FC236}">
                  <a16:creationId xmlns:a16="http://schemas.microsoft.com/office/drawing/2014/main" id="{F5EC1E4D-3818-AF63-FCDA-9EEF9F998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b="5567"/>
            <a:stretch>
              <a:fillRect/>
            </a:stretch>
          </p:blipFill>
          <p:spPr>
            <a:xfrm>
              <a:off x="434090" y="2400286"/>
              <a:ext cx="2149180" cy="109282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150953C-EF9C-8069-B0CE-8D0B7EDBF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965682" y="2219991"/>
              <a:ext cx="1734165" cy="1296415"/>
            </a:xfrm>
            <a:prstGeom prst="rect">
              <a:avLst/>
            </a:prstGeom>
          </p:spPr>
        </p:pic>
      </p:grpSp>
      <p:sp>
        <p:nvSpPr>
          <p:cNvPr id="18" name="Curved Left Arrow 17">
            <a:extLst>
              <a:ext uri="{FF2B5EF4-FFF2-40B4-BE49-F238E27FC236}">
                <a16:creationId xmlns:a16="http://schemas.microsoft.com/office/drawing/2014/main" id="{D0F455CD-765C-2722-EE2D-9B3BC78A7053}"/>
              </a:ext>
            </a:extLst>
          </p:cNvPr>
          <p:cNvSpPr/>
          <p:nvPr/>
        </p:nvSpPr>
        <p:spPr>
          <a:xfrm>
            <a:off x="4997123" y="1378324"/>
            <a:ext cx="504264" cy="135815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AB87D0E-7914-342F-5E7F-54C8414DB972}"/>
              </a:ext>
            </a:extLst>
          </p:cNvPr>
          <p:cNvSpPr/>
          <p:nvPr/>
        </p:nvSpPr>
        <p:spPr>
          <a:xfrm>
            <a:off x="5716101" y="1830898"/>
            <a:ext cx="1095642" cy="4530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600" dirty="0"/>
              <a:t>DL model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E86FC9-5A2B-358F-3AE5-E191CB2F7542}"/>
              </a:ext>
            </a:extLst>
          </p:cNvPr>
          <p:cNvCxnSpPr>
            <a:cxnSpLocks/>
          </p:cNvCxnSpPr>
          <p:nvPr/>
        </p:nvCxnSpPr>
        <p:spPr>
          <a:xfrm>
            <a:off x="2077962" y="1156669"/>
            <a:ext cx="6992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5F2C745-4B87-10AA-77F1-6979AAEE6CE7}"/>
              </a:ext>
            </a:extLst>
          </p:cNvPr>
          <p:cNvSpPr txBox="1"/>
          <p:nvPr/>
        </p:nvSpPr>
        <p:spPr>
          <a:xfrm>
            <a:off x="7673617" y="6266921"/>
            <a:ext cx="31054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cheap, fast, annotation by design</a:t>
            </a:r>
            <a:endParaRPr lang="en-E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6833F7-CE69-FF64-901C-3A42C1D386A9}"/>
              </a:ext>
            </a:extLst>
          </p:cNvPr>
          <p:cNvSpPr txBox="1"/>
          <p:nvPr/>
        </p:nvSpPr>
        <p:spPr>
          <a:xfrm>
            <a:off x="943885" y="3583533"/>
            <a:ext cx="3242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600" dirty="0"/>
              <a:t>expensive, slow, hard to annotate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492A4D5-0FAC-D274-0726-25C156F52E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1364" y="4554796"/>
            <a:ext cx="3489908" cy="165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1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8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7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939743-B19B-C736-CEDC-949DD70A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710"/>
          <a:stretch>
            <a:fillRect/>
          </a:stretch>
        </p:blipFill>
        <p:spPr>
          <a:xfrm>
            <a:off x="156529" y="1924582"/>
            <a:ext cx="5544975" cy="3008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4C011F-7FE5-7B02-3EF3-7DE25469B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50"/>
          <a:stretch>
            <a:fillRect/>
          </a:stretch>
        </p:blipFill>
        <p:spPr>
          <a:xfrm>
            <a:off x="6096000" y="1089920"/>
            <a:ext cx="5732757" cy="461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8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5902</TotalTime>
  <Words>47</Words>
  <Application>Microsoft Macintosh PowerPoint</Application>
  <PresentationFormat>Widescreen</PresentationFormat>
  <Paragraphs>9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 Hands-on Introduction to BioImage Simulation with DeepTrack2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Guillem Guigó i Corominas</dc:creator>
  <cp:lastModifiedBy>Guillem Guigó i Corominas</cp:lastModifiedBy>
  <cp:revision>3</cp:revision>
  <dcterms:created xsi:type="dcterms:W3CDTF">2026-10-02T08:30:59Z</dcterms:created>
  <dcterms:modified xsi:type="dcterms:W3CDTF">2026-10-06T11:00:55Z</dcterms:modified>
</cp:coreProperties>
</file>